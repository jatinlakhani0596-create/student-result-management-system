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e962877-30af-bf59-85dd-9533f6ccf58f}">
          <p14:sldIdLst>
            <p14:sldId id="256"/>
            <p14:sldId id="257"/>
            <p14:sldId id="258"/>
          </p14:sldIdLst>
        </p14:section>
        <p14:section name="Design" id="{6e7449c5-2cec-e4df-82af-5662d2da9e68}">
          <p14:sldIdLst>
            <p14:sldId id="259"/>
            <p14:sldId id="260"/>
            <p14:sldId id="261"/>
          </p14:sldIdLst>
        </p14:section>
        <p14:section name="Implementation" id="{9aaed553-54d4-acf7-e01f-596bfa8d6687}">
          <p14:sldIdLst>
            <p14:sldId id="262"/>
            <p14:sldId id="263"/>
            <p14:sldId id="264"/>
            <p14:sldId id="265"/>
            <p14:sldId id="266"/>
          </p14:sldIdLst>
        </p14:section>
        <p14:section name="Security &amp; QA" id="{c671f132-f352-fc2d-0e21-ff08f33726bd}">
          <p14:sldIdLst>
            <p14:sldId id="267"/>
            <p14:sldId id="268"/>
          </p14:sldIdLst>
        </p14:section>
        <p14:section name="Wrap-up" id="{1a1ac714-27a1-dbb6-8e75-d86d73b48fc2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SRMS is an automated three-tier web portal for exam management and marksheet generation, built individually for ALA-5.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ledgers and spreadsheets cause errors, delays, and security risks. SRMS replaces them with a centralized, automated, secure web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numbers: 100% calculation fidelity, under 120 ms search on 10,000 mock records, three-tier architecture, and all 8 test cases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PHP 8 with PDO on the backend, MySQL InnoDB for the database, Bootstrap 5 with HTML5/CSS3/JS on the front end, and AJAX for dynamic marks entry. All open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tier handles UI, application tier runs PHP business logic and sessions, data tier is MySQL. DFD level 1 splits the system into five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normalized to 3NF. tblresult links students, classes and subjects through foreign keys. Indexes on ClassId+RollId and StudentId+SubjectId keep lookups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with hero, campus highlights and a live notice board that queries tblnotice (latest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uses a PDO prepared query and session_regenerate_id. Dashboard shows live KPI counts from four COUNT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directory lists declared results with Edit Marks. Add Result loads class subjects via AJAX and blocks duplicate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enters roll ID, input is sanitized and bound as a parameter, and the system generates a printable marksheet: 616/700, 88 percent, SGPA 9.29, Pass with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result.php runs a prepared JOIN query, sums marks, computes percentage, and maps grade points O=10, A+=9, A=8 to get SGPA. Classification: 75+ Distinction, 60+ First Class, else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Mapped to the OWASP Top 10: SQL injection, XSS, broken access control, cryptographic failures. Be ready to say password hashing currently uses MD5 and bcrypt/Argon2id is the planned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functional and security test cases passed. Search stayed under 120 ms with 10,000 mock records, tested on Chrome, Firefox, Safari and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upgrades: QR code verification, SMS/WhatsApp alerts, blockchain-backed credentials, AI analytics, and multi-tier grading with HOD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SRMS replaces manual ledgers with a secure, automated, three-tier system. Share the GitHub link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548640" y="1188720"/>
            <a:ext cx="42976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SRMS  •  Jatin Lakhani  •  ER No: 240503020028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SRMS  •  Jatin Lakhani  •  ER No: 240503020028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jatinlakhani0596-create/student-result-management-system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548640" y="118872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Student Result Management System</a:t>
            </a:r>
            <a:endParaRPr lang="en-US" sz="3600" dirty="0"/>
          </a:p>
        </p:txBody>
      </p:sp>
      <p:sp>
        <p:nvSpPr>
          <p:cNvPr id="4" name="pill"/>
          <p:cNvSpPr txBox="1"/>
          <p:nvPr/>
        </p:nvSpPr>
        <p:spPr>
          <a:xfrm>
            <a:off x="548640" y="640080"/>
            <a:ext cx="2834640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ALA-5  •  SKILL BUILDING TASK</a:t>
            </a:r>
            <a:endParaRPr lang="en-US" sz="1200" dirty="0"/>
          </a:p>
        </p:txBody>
      </p:sp>
      <p:sp>
        <p:nvSpPr>
          <p:cNvPr id="5" name="text-1"/>
          <p:cNvSpPr txBox="1"/>
          <p:nvPr/>
        </p:nvSpPr>
        <p:spPr>
          <a:xfrm>
            <a:off x="54864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 Automated Three-Tier Web Examination Management &amp; Dynamic Marksheet Generation Portal</a:t>
            </a:r>
            <a:endParaRPr lang="en-US" sz="1500" dirty="0"/>
          </a:p>
        </p:txBody>
      </p:sp>
      <p:sp>
        <p:nvSpPr>
          <p:cNvPr id="6" name="card-2"/>
          <p:cNvSpPr/>
          <p:nvPr/>
        </p:nvSpPr>
        <p:spPr>
          <a:xfrm>
            <a:off x="548640" y="3749040"/>
            <a:ext cx="429768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7" name="text-3"/>
          <p:cNvSpPr txBox="1"/>
          <p:nvPr/>
        </p:nvSpPr>
        <p:spPr>
          <a:xfrm>
            <a:off x="731520" y="3840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JATIN LAKHANI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ER No: 240503020028  •  BCA Sem 5 (Class A)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Cyber Security  •  PHP &amp; Web Application Development</a:t>
            </a:r>
            <a:endParaRPr lang="en-US" sz="1600" dirty="0"/>
          </a:p>
        </p:txBody>
      </p:sp>
      <p:sp>
        <p:nvSpPr>
          <p:cNvPr id="8" name="card-4"/>
          <p:cNvSpPr/>
          <p:nvPr/>
        </p:nvSpPr>
        <p:spPr>
          <a:xfrm>
            <a:off x="5120640" y="1005840"/>
            <a:ext cx="3611880" cy="2395728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9" name="hero-shot" descr="img/s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1078992"/>
            <a:ext cx="3465576" cy="2249424"/>
          </a:xfrm>
          <a:prstGeom prst="rect">
            <a:avLst/>
          </a:prstGeom>
        </p:spPr>
      </p:pic>
      <p:sp>
        <p:nvSpPr>
          <p:cNvPr id="10" name="chip-5"/>
          <p:cNvSpPr txBox="1"/>
          <p:nvPr/>
        </p:nvSpPr>
        <p:spPr>
          <a:xfrm>
            <a:off x="5120640" y="3657600"/>
            <a:ext cx="1097280" cy="292608"/>
          </a:xfrm>
          <a:prstGeom prst="roundRect">
            <a:avLst>
              <a:gd name="adj" fmla="val 4687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PHP 8</a:t>
            </a:r>
            <a:endParaRPr lang="en-US" sz="1200" dirty="0"/>
          </a:p>
        </p:txBody>
      </p:sp>
      <p:sp>
        <p:nvSpPr>
          <p:cNvPr id="11" name="chip-6"/>
          <p:cNvSpPr txBox="1"/>
          <p:nvPr/>
        </p:nvSpPr>
        <p:spPr>
          <a:xfrm>
            <a:off x="6355080" y="3657600"/>
            <a:ext cx="109728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MySQL</a:t>
            </a:r>
            <a:endParaRPr lang="en-US" sz="1200" dirty="0"/>
          </a:p>
        </p:txBody>
      </p:sp>
      <p:sp>
        <p:nvSpPr>
          <p:cNvPr id="12" name="chip-7"/>
          <p:cNvSpPr txBox="1"/>
          <p:nvPr/>
        </p:nvSpPr>
        <p:spPr>
          <a:xfrm>
            <a:off x="7589520" y="3657600"/>
            <a:ext cx="1097280" cy="292608"/>
          </a:xfrm>
          <a:prstGeom prst="roundRect">
            <a:avLst>
              <a:gd name="adj" fmla="val 4687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Bootstrap 5</a:t>
            </a:r>
            <a:endParaRPr lang="en-US" sz="1200" dirty="0"/>
          </a:p>
        </p:txBody>
      </p:sp>
      <p:sp>
        <p:nvSpPr>
          <p:cNvPr id="13" name="text-8"/>
          <p:cNvSpPr txBox="1"/>
          <p:nvPr/>
        </p:nvSpPr>
        <p:spPr>
          <a:xfrm>
            <a:off x="5120640" y="4160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Gyanmanjari Innovative University  •  Bhavnagar, Gujarat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 We Solve</a:t>
            </a:r>
            <a:endParaRPr lang="en-US" sz="3000" dirty="0"/>
          </a:p>
        </p:txBody>
      </p:sp>
      <p:sp>
        <p:nvSpPr>
          <p:cNvPr id="4" name="card-9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head-10"/>
          <p:cNvSpPr txBox="1"/>
          <p:nvPr/>
        </p:nvSpPr>
        <p:spPr>
          <a:xfrm>
            <a:off x="640080" y="1325880"/>
            <a:ext cx="3611880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Manual Mess</a:t>
            </a:r>
            <a:endParaRPr lang="en-US" sz="1800" dirty="0"/>
          </a:p>
        </p:txBody>
      </p:sp>
      <p:sp>
        <p:nvSpPr>
          <p:cNvPr id="6" name="badge-11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con-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" y="2064715"/>
            <a:ext cx="168250" cy="168250"/>
          </a:xfrm>
          <a:prstGeom prst="rect">
            <a:avLst/>
          </a:prstGeom>
        </p:spPr>
      </p:pic>
      <p:sp>
        <p:nvSpPr>
          <p:cNvPr id="8" name="text-13"/>
          <p:cNvSpPr txBox="1"/>
          <p:nvPr/>
        </p:nvSpPr>
        <p:spPr>
          <a:xfrm>
            <a:off x="11887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Transcription &amp; formula errors</a:t>
            </a:r>
            <a:endParaRPr lang="en-US" sz="1400" dirty="0"/>
          </a:p>
        </p:txBody>
      </p:sp>
      <p:sp>
        <p:nvSpPr>
          <p:cNvPr id="9" name="badge-14"/>
          <p:cNvSpPr/>
          <p:nvPr/>
        </p:nvSpPr>
        <p:spPr>
          <a:xfrm>
            <a:off x="685800" y="248716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" y="2585923"/>
            <a:ext cx="168250" cy="168250"/>
          </a:xfrm>
          <a:prstGeom prst="rect">
            <a:avLst/>
          </a:prstGeom>
        </p:spPr>
      </p:pic>
      <p:sp>
        <p:nvSpPr>
          <p:cNvPr id="11" name="text-16"/>
          <p:cNvSpPr txBox="1"/>
          <p:nvPr/>
        </p:nvSpPr>
        <p:spPr>
          <a:xfrm>
            <a:off x="118872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Weeks of result delay</a:t>
            </a:r>
            <a:endParaRPr lang="en-US" sz="1400" dirty="0"/>
          </a:p>
        </p:txBody>
      </p:sp>
      <p:sp>
        <p:nvSpPr>
          <p:cNvPr id="12" name="badge-17"/>
          <p:cNvSpPr/>
          <p:nvPr/>
        </p:nvSpPr>
        <p:spPr>
          <a:xfrm>
            <a:off x="685800" y="300837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3107131"/>
            <a:ext cx="168250" cy="168250"/>
          </a:xfrm>
          <a:prstGeom prst="rect">
            <a:avLst/>
          </a:prstGeom>
        </p:spPr>
      </p:pic>
      <p:sp>
        <p:nvSpPr>
          <p:cNvPr id="14" name="text-19"/>
          <p:cNvSpPr txBox="1"/>
          <p:nvPr/>
        </p:nvSpPr>
        <p:spPr>
          <a:xfrm>
            <a:off x="1188720" y="3008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Physical visits to see marks</a:t>
            </a:r>
            <a:endParaRPr lang="en-US" sz="1400" dirty="0"/>
          </a:p>
        </p:txBody>
      </p:sp>
      <p:sp>
        <p:nvSpPr>
          <p:cNvPr id="15" name="badge-20"/>
          <p:cNvSpPr/>
          <p:nvPr/>
        </p:nvSpPr>
        <p:spPr>
          <a:xfrm>
            <a:off x="685800" y="3529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-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3628339"/>
            <a:ext cx="168250" cy="168250"/>
          </a:xfrm>
          <a:prstGeom prst="rect">
            <a:avLst/>
          </a:prstGeom>
        </p:spPr>
      </p:pic>
      <p:sp>
        <p:nvSpPr>
          <p:cNvPr id="17" name="text-22"/>
          <p:cNvSpPr txBox="1"/>
          <p:nvPr/>
        </p:nvSpPr>
        <p:spPr>
          <a:xfrm>
            <a:off x="118872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instant verification</a:t>
            </a:r>
            <a:endParaRPr lang="en-US" sz="1400" dirty="0"/>
          </a:p>
        </p:txBody>
      </p:sp>
      <p:sp>
        <p:nvSpPr>
          <p:cNvPr id="18" name="badge-23"/>
          <p:cNvSpPr/>
          <p:nvPr/>
        </p:nvSpPr>
        <p:spPr>
          <a:xfrm>
            <a:off x="685800" y="405079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-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4149547"/>
            <a:ext cx="168250" cy="168250"/>
          </a:xfrm>
          <a:prstGeom prst="rect">
            <a:avLst/>
          </a:prstGeom>
        </p:spPr>
      </p:pic>
      <p:sp>
        <p:nvSpPr>
          <p:cNvPr id="20" name="text-25"/>
          <p:cNvSpPr txBox="1"/>
          <p:nvPr/>
        </p:nvSpPr>
        <p:spPr>
          <a:xfrm>
            <a:off x="118872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Paper ledgers: tamper &amp; loss risk</a:t>
            </a:r>
            <a:endParaRPr lang="en-US" sz="1400" dirty="0"/>
          </a:p>
        </p:txBody>
      </p:sp>
      <p:sp>
        <p:nvSpPr>
          <p:cNvPr id="21" name="card-26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2" name="head-27"/>
          <p:cNvSpPr txBox="1"/>
          <p:nvPr/>
        </p:nvSpPr>
        <p:spPr>
          <a:xfrm>
            <a:off x="4892040" y="1325880"/>
            <a:ext cx="361188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SRMS Fix</a:t>
            </a:r>
            <a:endParaRPr lang="en-US" sz="1800" dirty="0"/>
          </a:p>
        </p:txBody>
      </p:sp>
      <p:sp>
        <p:nvSpPr>
          <p:cNvPr id="23" name="badge-28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-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515" y="2064715"/>
            <a:ext cx="168250" cy="168250"/>
          </a:xfrm>
          <a:prstGeom prst="rect">
            <a:avLst/>
          </a:prstGeom>
        </p:spPr>
      </p:pic>
      <p:sp>
        <p:nvSpPr>
          <p:cNvPr id="25" name="text-30"/>
          <p:cNvSpPr txBox="1"/>
          <p:nvPr/>
        </p:nvSpPr>
        <p:spPr>
          <a:xfrm>
            <a:off x="5440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server-side grading</a:t>
            </a:r>
            <a:endParaRPr lang="en-US" sz="1400" dirty="0"/>
          </a:p>
        </p:txBody>
      </p:sp>
      <p:sp>
        <p:nvSpPr>
          <p:cNvPr id="26" name="badge-31"/>
          <p:cNvSpPr/>
          <p:nvPr/>
        </p:nvSpPr>
        <p:spPr>
          <a:xfrm>
            <a:off x="4937760" y="2487168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-3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515" y="2585923"/>
            <a:ext cx="168250" cy="168250"/>
          </a:xfrm>
          <a:prstGeom prst="rect">
            <a:avLst/>
          </a:prstGeom>
        </p:spPr>
      </p:pic>
      <p:sp>
        <p:nvSpPr>
          <p:cNvPr id="28" name="text-33"/>
          <p:cNvSpPr txBox="1"/>
          <p:nvPr/>
        </p:nvSpPr>
        <p:spPr>
          <a:xfrm>
            <a:off x="544068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Sub-second result retrieval</a:t>
            </a:r>
            <a:endParaRPr lang="en-US" sz="1400" dirty="0"/>
          </a:p>
        </p:txBody>
      </p:sp>
      <p:sp>
        <p:nvSpPr>
          <p:cNvPr id="29" name="badge-34"/>
          <p:cNvSpPr/>
          <p:nvPr/>
        </p:nvSpPr>
        <p:spPr>
          <a:xfrm>
            <a:off x="4937760" y="3008376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-3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6515" y="3107131"/>
            <a:ext cx="168250" cy="168250"/>
          </a:xfrm>
          <a:prstGeom prst="rect">
            <a:avLst/>
          </a:prstGeom>
        </p:spPr>
      </p:pic>
      <p:sp>
        <p:nvSpPr>
          <p:cNvPr id="31" name="text-36"/>
          <p:cNvSpPr txBox="1"/>
          <p:nvPr/>
        </p:nvSpPr>
        <p:spPr>
          <a:xfrm>
            <a:off x="5440680" y="3008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web portal, 24x7</a:t>
            </a:r>
            <a:endParaRPr lang="en-US" sz="1400" dirty="0"/>
          </a:p>
        </p:txBody>
      </p:sp>
      <p:sp>
        <p:nvSpPr>
          <p:cNvPr id="32" name="badge-37"/>
          <p:cNvSpPr/>
          <p:nvPr/>
        </p:nvSpPr>
        <p:spPr>
          <a:xfrm>
            <a:off x="4937760" y="3529584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con-3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6515" y="3628339"/>
            <a:ext cx="168250" cy="168250"/>
          </a:xfrm>
          <a:prstGeom prst="rect">
            <a:avLst/>
          </a:prstGeom>
        </p:spPr>
      </p:pic>
      <p:sp>
        <p:nvSpPr>
          <p:cNvPr id="34" name="text-39"/>
          <p:cNvSpPr txBox="1"/>
          <p:nvPr/>
        </p:nvSpPr>
        <p:spPr>
          <a:xfrm>
            <a:off x="544068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Roll-ID verified transcripts</a:t>
            </a:r>
            <a:endParaRPr lang="en-US" sz="1400" dirty="0"/>
          </a:p>
        </p:txBody>
      </p:sp>
      <p:sp>
        <p:nvSpPr>
          <p:cNvPr id="35" name="badge-40"/>
          <p:cNvSpPr/>
          <p:nvPr/>
        </p:nvSpPr>
        <p:spPr>
          <a:xfrm>
            <a:off x="4937760" y="405079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icon-4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6515" y="4149547"/>
            <a:ext cx="168250" cy="168250"/>
          </a:xfrm>
          <a:prstGeom prst="rect">
            <a:avLst/>
          </a:prstGeom>
        </p:spPr>
      </p:pic>
      <p:sp>
        <p:nvSpPr>
          <p:cNvPr id="37" name="text-42"/>
          <p:cNvSpPr txBox="1"/>
          <p:nvPr/>
        </p:nvSpPr>
        <p:spPr>
          <a:xfrm>
            <a:off x="544068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Central MySQL + prepared queries</a:t>
            </a:r>
            <a:endParaRPr lang="en-US" sz="1400" dirty="0"/>
          </a:p>
        </p:txBody>
      </p:sp>
      <p:sp>
        <p:nvSpPr>
          <p:cNvPr id="38" name="arrow"/>
          <p:cNvSpPr/>
          <p:nvPr/>
        </p:nvSpPr>
        <p:spPr>
          <a:xfrm>
            <a:off x="4462272" y="2697480"/>
            <a:ext cx="22860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at a Glance</a:t>
            </a:r>
            <a:endParaRPr lang="en-US" sz="3000" dirty="0"/>
          </a:p>
        </p:txBody>
      </p:sp>
      <p:sp>
        <p:nvSpPr>
          <p:cNvPr id="4" name="card-43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text-44"/>
          <p:cNvSpPr txBox="1"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100%</a:t>
            </a:r>
            <a:endParaRPr lang="en-US" sz="3600" dirty="0"/>
          </a:p>
        </p:txBody>
      </p:sp>
      <p:sp>
        <p:nvSpPr>
          <p:cNvPr id="6" name="text-45"/>
          <p:cNvSpPr txBox="1"/>
          <p:nvPr/>
        </p:nvSpPr>
        <p:spPr>
          <a:xfrm>
            <a:off x="5943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Calculation fidelity</a:t>
            </a:r>
            <a:endParaRPr lang="en-US" sz="1400" dirty="0"/>
          </a:p>
        </p:txBody>
      </p:sp>
      <p:sp>
        <p:nvSpPr>
          <p:cNvPr id="7" name="card-46"/>
          <p:cNvSpPr/>
          <p:nvPr/>
        </p:nvSpPr>
        <p:spPr>
          <a:xfrm>
            <a:off x="2542032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8" name="text-47"/>
          <p:cNvSpPr txBox="1"/>
          <p:nvPr/>
        </p:nvSpPr>
        <p:spPr>
          <a:xfrm>
            <a:off x="2542032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&lt;120ms</a:t>
            </a:r>
            <a:endParaRPr lang="en-US" sz="3600" dirty="0"/>
          </a:p>
        </p:txBody>
      </p:sp>
      <p:sp>
        <p:nvSpPr>
          <p:cNvPr id="9" name="text-48"/>
          <p:cNvSpPr txBox="1"/>
          <p:nvPr/>
        </p:nvSpPr>
        <p:spPr>
          <a:xfrm>
            <a:off x="2679192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Search on 10,000 records</a:t>
            </a:r>
            <a:endParaRPr lang="en-US" sz="1400" dirty="0"/>
          </a:p>
        </p:txBody>
      </p:sp>
      <p:sp>
        <p:nvSpPr>
          <p:cNvPr id="10" name="card-49"/>
          <p:cNvSpPr/>
          <p:nvPr/>
        </p:nvSpPr>
        <p:spPr>
          <a:xfrm>
            <a:off x="4626864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1" name="text-50"/>
          <p:cNvSpPr txBox="1"/>
          <p:nvPr/>
        </p:nvSpPr>
        <p:spPr>
          <a:xfrm>
            <a:off x="4626864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3-Tier</a:t>
            </a:r>
            <a:endParaRPr lang="en-US" sz="3600" dirty="0"/>
          </a:p>
        </p:txBody>
      </p:sp>
      <p:sp>
        <p:nvSpPr>
          <p:cNvPr id="12" name="text-51"/>
          <p:cNvSpPr txBox="1"/>
          <p:nvPr/>
        </p:nvSpPr>
        <p:spPr>
          <a:xfrm>
            <a:off x="4764024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Client-server architecture</a:t>
            </a:r>
            <a:endParaRPr lang="en-US" sz="1400" dirty="0"/>
          </a:p>
        </p:txBody>
      </p:sp>
      <p:sp>
        <p:nvSpPr>
          <p:cNvPr id="13" name="card-52"/>
          <p:cNvSpPr/>
          <p:nvPr/>
        </p:nvSpPr>
        <p:spPr>
          <a:xfrm>
            <a:off x="6711696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4" name="text-53"/>
          <p:cNvSpPr txBox="1"/>
          <p:nvPr/>
        </p:nvSpPr>
        <p:spPr>
          <a:xfrm>
            <a:off x="6711696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8 / 8</a:t>
            </a:r>
            <a:endParaRPr lang="en-US" sz="3600" dirty="0"/>
          </a:p>
        </p:txBody>
      </p:sp>
      <p:sp>
        <p:nvSpPr>
          <p:cNvPr id="15" name="text-54"/>
          <p:cNvSpPr txBox="1"/>
          <p:nvPr/>
        </p:nvSpPr>
        <p:spPr>
          <a:xfrm>
            <a:off x="6848856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 cases passed</a:t>
            </a:r>
            <a:endParaRPr lang="en-US" sz="1400" dirty="0"/>
          </a:p>
        </p:txBody>
      </p:sp>
      <p:sp>
        <p:nvSpPr>
          <p:cNvPr id="16" name="card-55"/>
          <p:cNvSpPr/>
          <p:nvPr/>
        </p:nvSpPr>
        <p:spPr>
          <a:xfrm>
            <a:off x="457200" y="3246120"/>
            <a:ext cx="262432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7" name="badge-56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3564788"/>
            <a:ext cx="231343" cy="231343"/>
          </a:xfrm>
          <a:prstGeom prst="rect">
            <a:avLst/>
          </a:prstGeom>
        </p:spPr>
      </p:pic>
      <p:sp>
        <p:nvSpPr>
          <p:cNvPr id="19" name="text-58"/>
          <p:cNvSpPr txBox="1"/>
          <p:nvPr/>
        </p:nvSpPr>
        <p:spPr>
          <a:xfrm>
            <a:off x="1280160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 segregation</a:t>
            </a:r>
            <a:endParaRPr lang="en-US" sz="1500" dirty="0"/>
          </a:p>
        </p:txBody>
      </p:sp>
      <p:sp>
        <p:nvSpPr>
          <p:cNvPr id="20" name="text-59"/>
          <p:cNvSpPr txBox="1"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Admin control vs public student queries</a:t>
            </a:r>
            <a:endParaRPr lang="en-US" sz="1300" dirty="0"/>
          </a:p>
        </p:txBody>
      </p:sp>
      <p:sp>
        <p:nvSpPr>
          <p:cNvPr id="21" name="card-60"/>
          <p:cNvSpPr/>
          <p:nvPr/>
        </p:nvSpPr>
        <p:spPr>
          <a:xfrm>
            <a:off x="3264408" y="3246120"/>
            <a:ext cx="262432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2" name="badge-61"/>
          <p:cNvSpPr/>
          <p:nvPr/>
        </p:nvSpPr>
        <p:spPr>
          <a:xfrm>
            <a:off x="3447288" y="34290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76" y="3564788"/>
            <a:ext cx="231343" cy="231343"/>
          </a:xfrm>
          <a:prstGeom prst="rect">
            <a:avLst/>
          </a:prstGeom>
        </p:spPr>
      </p:pic>
      <p:sp>
        <p:nvSpPr>
          <p:cNvPr id="24" name="text-63"/>
          <p:cNvSpPr txBox="1"/>
          <p:nvPr/>
        </p:nvSpPr>
        <p:spPr>
          <a:xfrm>
            <a:off x="4087368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AJAX marks entry</a:t>
            </a:r>
            <a:endParaRPr lang="en-US" sz="1500" dirty="0"/>
          </a:p>
        </p:txBody>
      </p:sp>
      <p:sp>
        <p:nvSpPr>
          <p:cNvPr id="25" name="text-64"/>
          <p:cNvSpPr txBox="1"/>
          <p:nvPr/>
        </p:nvSpPr>
        <p:spPr>
          <a:xfrm>
            <a:off x="3447288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Auto-loads subjects, blocks duplicates</a:t>
            </a:r>
            <a:endParaRPr lang="en-US" sz="1300" dirty="0"/>
          </a:p>
        </p:txBody>
      </p:sp>
      <p:sp>
        <p:nvSpPr>
          <p:cNvPr id="26" name="card-65"/>
          <p:cNvSpPr/>
          <p:nvPr/>
        </p:nvSpPr>
        <p:spPr>
          <a:xfrm>
            <a:off x="6071616" y="3246120"/>
            <a:ext cx="262432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7" name="badge-66"/>
          <p:cNvSpPr/>
          <p:nvPr/>
        </p:nvSpPr>
        <p:spPr>
          <a:xfrm>
            <a:off x="6254496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84" y="3564788"/>
            <a:ext cx="231343" cy="231343"/>
          </a:xfrm>
          <a:prstGeom prst="rect">
            <a:avLst/>
          </a:prstGeom>
        </p:spPr>
      </p:pic>
      <p:sp>
        <p:nvSpPr>
          <p:cNvPr id="29" name="text-68"/>
          <p:cNvSpPr txBox="1"/>
          <p:nvPr/>
        </p:nvSpPr>
        <p:spPr>
          <a:xfrm>
            <a:off x="6894576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Printable transcript</a:t>
            </a:r>
            <a:endParaRPr lang="en-US" sz="1500" dirty="0"/>
          </a:p>
        </p:txBody>
      </p:sp>
      <p:sp>
        <p:nvSpPr>
          <p:cNvPr id="30" name="text-69"/>
          <p:cNvSpPr txBox="1"/>
          <p:nvPr/>
        </p:nvSpPr>
        <p:spPr>
          <a:xfrm>
            <a:off x="6254496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One-click print-ready marksheet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card-70"/>
          <p:cNvSpPr/>
          <p:nvPr/>
        </p:nvSpPr>
        <p:spPr>
          <a:xfrm>
            <a:off x="457200" y="123444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badge-7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590142"/>
            <a:ext cx="294437" cy="294437"/>
          </a:xfrm>
          <a:prstGeom prst="rect">
            <a:avLst/>
          </a:prstGeom>
        </p:spPr>
      </p:pic>
      <p:sp>
        <p:nvSpPr>
          <p:cNvPr id="7" name="text-73"/>
          <p:cNvSpPr txBox="1"/>
          <p:nvPr/>
        </p:nvSpPr>
        <p:spPr>
          <a:xfrm>
            <a:off x="141732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PHP 8.x</a:t>
            </a:r>
            <a:endParaRPr lang="en-US" sz="1600" dirty="0"/>
          </a:p>
        </p:txBody>
      </p:sp>
      <p:sp>
        <p:nvSpPr>
          <p:cNvPr id="8" name="text-74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Server-side logic &amp; sessions</a:t>
            </a:r>
            <a:endParaRPr lang="en-US" sz="1400" dirty="0"/>
          </a:p>
        </p:txBody>
      </p:sp>
      <p:sp>
        <p:nvSpPr>
          <p:cNvPr id="9" name="card-75"/>
          <p:cNvSpPr/>
          <p:nvPr/>
        </p:nvSpPr>
        <p:spPr>
          <a:xfrm>
            <a:off x="3264408" y="123444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0" name="badge-76"/>
          <p:cNvSpPr/>
          <p:nvPr/>
        </p:nvSpPr>
        <p:spPr>
          <a:xfrm>
            <a:off x="3447288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10" y="1590142"/>
            <a:ext cx="294437" cy="294437"/>
          </a:xfrm>
          <a:prstGeom prst="rect">
            <a:avLst/>
          </a:prstGeom>
        </p:spPr>
      </p:pic>
      <p:sp>
        <p:nvSpPr>
          <p:cNvPr id="12" name="text-78"/>
          <p:cNvSpPr txBox="1"/>
          <p:nvPr/>
        </p:nvSpPr>
        <p:spPr>
          <a:xfrm>
            <a:off x="4224528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MySQL (InnoDB)</a:t>
            </a:r>
            <a:endParaRPr lang="en-US" sz="1600" dirty="0"/>
          </a:p>
        </p:txBody>
      </p:sp>
      <p:sp>
        <p:nvSpPr>
          <p:cNvPr id="13" name="text-79"/>
          <p:cNvSpPr txBox="1"/>
          <p:nvPr/>
        </p:nvSpPr>
        <p:spPr>
          <a:xfrm>
            <a:off x="344728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Relational data, FK &amp; ACID</a:t>
            </a:r>
            <a:endParaRPr lang="en-US" sz="1400" dirty="0"/>
          </a:p>
        </p:txBody>
      </p:sp>
      <p:sp>
        <p:nvSpPr>
          <p:cNvPr id="14" name="card-80"/>
          <p:cNvSpPr/>
          <p:nvPr/>
        </p:nvSpPr>
        <p:spPr>
          <a:xfrm>
            <a:off x="6071616" y="123444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5" name="badge-81"/>
          <p:cNvSpPr/>
          <p:nvPr/>
        </p:nvSpPr>
        <p:spPr>
          <a:xfrm>
            <a:off x="6254496" y="14173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con-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318" y="1590142"/>
            <a:ext cx="294437" cy="294437"/>
          </a:xfrm>
          <a:prstGeom prst="rect">
            <a:avLst/>
          </a:prstGeom>
        </p:spPr>
      </p:pic>
      <p:sp>
        <p:nvSpPr>
          <p:cNvPr id="17" name="text-83"/>
          <p:cNvSpPr txBox="1"/>
          <p:nvPr/>
        </p:nvSpPr>
        <p:spPr>
          <a:xfrm>
            <a:off x="7031736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PDO</a:t>
            </a:r>
            <a:endParaRPr lang="en-US" sz="1600" dirty="0"/>
          </a:p>
        </p:txBody>
      </p:sp>
      <p:sp>
        <p:nvSpPr>
          <p:cNvPr id="18" name="text-84"/>
          <p:cNvSpPr txBox="1"/>
          <p:nvPr/>
        </p:nvSpPr>
        <p:spPr>
          <a:xfrm>
            <a:off x="6254496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Prepared statements, no SQLi</a:t>
            </a:r>
            <a:endParaRPr lang="en-US" sz="1400" dirty="0"/>
          </a:p>
        </p:txBody>
      </p:sp>
      <p:sp>
        <p:nvSpPr>
          <p:cNvPr id="19" name="card-85"/>
          <p:cNvSpPr/>
          <p:nvPr/>
        </p:nvSpPr>
        <p:spPr>
          <a:xfrm>
            <a:off x="457200" y="297180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0" name="badge-86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8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2" y="3327502"/>
            <a:ext cx="294437" cy="294437"/>
          </a:xfrm>
          <a:prstGeom prst="rect">
            <a:avLst/>
          </a:prstGeom>
        </p:spPr>
      </p:pic>
      <p:sp>
        <p:nvSpPr>
          <p:cNvPr id="22" name="text-88"/>
          <p:cNvSpPr txBox="1"/>
          <p:nvPr/>
        </p:nvSpPr>
        <p:spPr>
          <a:xfrm>
            <a:off x="141732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Bootstrap 5</a:t>
            </a:r>
            <a:endParaRPr lang="en-US" sz="1600" dirty="0"/>
          </a:p>
        </p:txBody>
      </p:sp>
      <p:sp>
        <p:nvSpPr>
          <p:cNvPr id="23" name="text-89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Responsive cross-device UI</a:t>
            </a:r>
            <a:endParaRPr lang="en-US" sz="1400" dirty="0"/>
          </a:p>
        </p:txBody>
      </p:sp>
      <p:sp>
        <p:nvSpPr>
          <p:cNvPr id="24" name="card-90"/>
          <p:cNvSpPr/>
          <p:nvPr/>
        </p:nvSpPr>
        <p:spPr>
          <a:xfrm>
            <a:off x="3264408" y="297180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5" name="badge-91"/>
          <p:cNvSpPr/>
          <p:nvPr/>
        </p:nvSpPr>
        <p:spPr>
          <a:xfrm>
            <a:off x="3447288" y="31546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con-9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110" y="3327502"/>
            <a:ext cx="294437" cy="294437"/>
          </a:xfrm>
          <a:prstGeom prst="rect">
            <a:avLst/>
          </a:prstGeom>
        </p:spPr>
      </p:pic>
      <p:sp>
        <p:nvSpPr>
          <p:cNvPr id="27" name="text-93"/>
          <p:cNvSpPr txBox="1"/>
          <p:nvPr/>
        </p:nvSpPr>
        <p:spPr>
          <a:xfrm>
            <a:off x="4224528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HTML5 • CSS3 • JS</a:t>
            </a:r>
            <a:endParaRPr lang="en-US" sz="1600" dirty="0"/>
          </a:p>
        </p:txBody>
      </p:sp>
      <p:sp>
        <p:nvSpPr>
          <p:cNvPr id="28" name="text-94"/>
          <p:cNvSpPr txBox="1"/>
          <p:nvPr/>
        </p:nvSpPr>
        <p:spPr>
          <a:xfrm>
            <a:off x="3447288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Validation &amp; print styles</a:t>
            </a:r>
            <a:endParaRPr lang="en-US" sz="1400" dirty="0"/>
          </a:p>
        </p:txBody>
      </p:sp>
      <p:sp>
        <p:nvSpPr>
          <p:cNvPr id="29" name="card-95"/>
          <p:cNvSpPr/>
          <p:nvPr/>
        </p:nvSpPr>
        <p:spPr>
          <a:xfrm>
            <a:off x="6071616" y="2971800"/>
            <a:ext cx="2624328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30" name="badge-96"/>
          <p:cNvSpPr/>
          <p:nvPr/>
        </p:nvSpPr>
        <p:spPr>
          <a:xfrm>
            <a:off x="6254496" y="31546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con-9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7318" y="3327502"/>
            <a:ext cx="294437" cy="294437"/>
          </a:xfrm>
          <a:prstGeom prst="rect">
            <a:avLst/>
          </a:prstGeom>
        </p:spPr>
      </p:pic>
      <p:sp>
        <p:nvSpPr>
          <p:cNvPr id="32" name="text-98"/>
          <p:cNvSpPr txBox="1"/>
          <p:nvPr/>
        </p:nvSpPr>
        <p:spPr>
          <a:xfrm>
            <a:off x="7031736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AJAX</a:t>
            </a:r>
            <a:endParaRPr lang="en-US" sz="1600" dirty="0"/>
          </a:p>
        </p:txBody>
      </p:sp>
      <p:sp>
        <p:nvSpPr>
          <p:cNvPr id="33" name="text-99"/>
          <p:cNvSpPr txBox="1"/>
          <p:nvPr/>
        </p:nvSpPr>
        <p:spPr>
          <a:xfrm>
            <a:off x="6254496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Dynamic class → subjects 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Three-Tier Architecture</a:t>
            </a:r>
            <a:endParaRPr lang="en-US" sz="3000" dirty="0"/>
          </a:p>
        </p:txBody>
      </p:sp>
      <p:sp>
        <p:nvSpPr>
          <p:cNvPr id="4" name="card-100"/>
          <p:cNvSpPr/>
          <p:nvPr/>
        </p:nvSpPr>
        <p:spPr>
          <a:xfrm>
            <a:off x="457200" y="1143000"/>
            <a:ext cx="2377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badge-101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1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415948"/>
            <a:ext cx="231343" cy="231343"/>
          </a:xfrm>
          <a:prstGeom prst="rect">
            <a:avLst/>
          </a:prstGeom>
        </p:spPr>
      </p:pic>
      <p:sp>
        <p:nvSpPr>
          <p:cNvPr id="7" name="text-103"/>
          <p:cNvSpPr txBox="1"/>
          <p:nvPr/>
        </p:nvSpPr>
        <p:spPr>
          <a:xfrm>
            <a:off x="1234440" y="1280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8" name="text-104"/>
          <p:cNvSpPr txBox="1"/>
          <p:nvPr/>
        </p:nvSpPr>
        <p:spPr>
          <a:xfrm>
            <a:off x="640080" y="1965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HTML5, CSS3,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Bootstrap 5 responsive UI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Print stylesheets</a:t>
            </a:r>
            <a:endParaRPr lang="en-US" sz="1400" dirty="0"/>
          </a:p>
        </p:txBody>
      </p:sp>
      <p:sp>
        <p:nvSpPr>
          <p:cNvPr id="9" name="arrow-105"/>
          <p:cNvSpPr/>
          <p:nvPr/>
        </p:nvSpPr>
        <p:spPr>
          <a:xfrm>
            <a:off x="2907792" y="2148840"/>
            <a:ext cx="402336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card-106"/>
          <p:cNvSpPr/>
          <p:nvPr/>
        </p:nvSpPr>
        <p:spPr>
          <a:xfrm>
            <a:off x="3383280" y="1143000"/>
            <a:ext cx="2377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1" name="badge-107"/>
          <p:cNvSpPr/>
          <p:nvPr/>
        </p:nvSpPr>
        <p:spPr>
          <a:xfrm>
            <a:off x="3566160" y="1280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1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48" y="1415948"/>
            <a:ext cx="231343" cy="231343"/>
          </a:xfrm>
          <a:prstGeom prst="rect">
            <a:avLst/>
          </a:prstGeom>
        </p:spPr>
      </p:pic>
      <p:sp>
        <p:nvSpPr>
          <p:cNvPr id="13" name="text-109"/>
          <p:cNvSpPr txBox="1"/>
          <p:nvPr/>
        </p:nvSpPr>
        <p:spPr>
          <a:xfrm>
            <a:off x="4160520" y="1280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4" name="text-110"/>
          <p:cNvSpPr txBox="1"/>
          <p:nvPr/>
        </p:nvSpPr>
        <p:spPr>
          <a:xfrm>
            <a:off x="3566160" y="1965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GET / POST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Session authorization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PDO business logic</a:t>
            </a:r>
            <a:endParaRPr lang="en-US" sz="1400" dirty="0"/>
          </a:p>
        </p:txBody>
      </p:sp>
      <p:sp>
        <p:nvSpPr>
          <p:cNvPr id="15" name="arrow-111"/>
          <p:cNvSpPr/>
          <p:nvPr/>
        </p:nvSpPr>
        <p:spPr>
          <a:xfrm>
            <a:off x="5833872" y="2148840"/>
            <a:ext cx="402336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card-112"/>
          <p:cNvSpPr/>
          <p:nvPr/>
        </p:nvSpPr>
        <p:spPr>
          <a:xfrm>
            <a:off x="6309360" y="1143000"/>
            <a:ext cx="2377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7" name="badge-113"/>
          <p:cNvSpPr/>
          <p:nvPr/>
        </p:nvSpPr>
        <p:spPr>
          <a:xfrm>
            <a:off x="649224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028" y="1415948"/>
            <a:ext cx="231343" cy="231343"/>
          </a:xfrm>
          <a:prstGeom prst="rect">
            <a:avLst/>
          </a:prstGeom>
        </p:spPr>
      </p:pic>
      <p:sp>
        <p:nvSpPr>
          <p:cNvPr id="19" name="text-115"/>
          <p:cNvSpPr txBox="1"/>
          <p:nvPr/>
        </p:nvSpPr>
        <p:spPr>
          <a:xfrm>
            <a:off x="7086600" y="1280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(MySQL)</a:t>
            </a:r>
            <a:endParaRPr lang="en-US" sz="1500" dirty="0"/>
          </a:p>
        </p:txBody>
      </p:sp>
      <p:sp>
        <p:nvSpPr>
          <p:cNvPr id="20" name="text-116"/>
          <p:cNvSpPr txBox="1"/>
          <p:nvPr/>
        </p:nvSpPr>
        <p:spPr>
          <a:xfrm>
            <a:off x="6492240" y="19659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 tables (3NF)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PK / FK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ACID transactions</a:t>
            </a:r>
            <a:endParaRPr lang="en-US" sz="1400" dirty="0"/>
          </a:p>
        </p:txBody>
      </p:sp>
      <p:sp>
        <p:nvSpPr>
          <p:cNvPr id="21" name="text-117"/>
          <p:cNvSpPr txBox="1"/>
          <p:nvPr/>
        </p:nvSpPr>
        <p:spPr>
          <a:xfrm>
            <a:off x="45720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DFD LEVEL 1 PROCESSES</a:t>
            </a:r>
            <a:endParaRPr lang="en-US" sz="1100" dirty="0"/>
          </a:p>
        </p:txBody>
      </p:sp>
      <p:sp>
        <p:nvSpPr>
          <p:cNvPr id="22" name="proc-118"/>
          <p:cNvSpPr txBox="1"/>
          <p:nvPr/>
        </p:nvSpPr>
        <p:spPr>
          <a:xfrm>
            <a:off x="457200" y="3931920"/>
            <a:ext cx="155448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1.0 Authenticate User</a:t>
            </a:r>
            <a:endParaRPr lang="en-US" sz="1200" dirty="0"/>
          </a:p>
        </p:txBody>
      </p:sp>
      <p:sp>
        <p:nvSpPr>
          <p:cNvPr id="23" name="proc-119"/>
          <p:cNvSpPr txBox="1"/>
          <p:nvPr/>
        </p:nvSpPr>
        <p:spPr>
          <a:xfrm>
            <a:off x="2125980" y="3931920"/>
            <a:ext cx="155448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2.0 Master Data</a:t>
            </a:r>
            <a:endParaRPr lang="en-US" sz="1200" dirty="0"/>
          </a:p>
        </p:txBody>
      </p:sp>
      <p:sp>
        <p:nvSpPr>
          <p:cNvPr id="24" name="proc-120"/>
          <p:cNvSpPr txBox="1"/>
          <p:nvPr/>
        </p:nvSpPr>
        <p:spPr>
          <a:xfrm>
            <a:off x="3794760" y="3931920"/>
            <a:ext cx="155448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3.0 Student Enrollment</a:t>
            </a:r>
            <a:endParaRPr lang="en-US" sz="1200" dirty="0"/>
          </a:p>
        </p:txBody>
      </p:sp>
      <p:sp>
        <p:nvSpPr>
          <p:cNvPr id="25" name="proc-121"/>
          <p:cNvSpPr txBox="1"/>
          <p:nvPr/>
        </p:nvSpPr>
        <p:spPr>
          <a:xfrm>
            <a:off x="5463540" y="3931920"/>
            <a:ext cx="1554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4.0 Process Marks</a:t>
            </a:r>
            <a:endParaRPr lang="en-US" sz="1200" dirty="0"/>
          </a:p>
        </p:txBody>
      </p:sp>
      <p:sp>
        <p:nvSpPr>
          <p:cNvPr id="26" name="proc-122"/>
          <p:cNvSpPr txBox="1"/>
          <p:nvPr/>
        </p:nvSpPr>
        <p:spPr>
          <a:xfrm>
            <a:off x="7132320" y="3931920"/>
            <a:ext cx="155448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5.0 Compile Transcript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Database Design</a:t>
            </a:r>
            <a:endParaRPr lang="en-US" sz="3000" dirty="0"/>
          </a:p>
        </p:txBody>
      </p:sp>
      <p:sp>
        <p:nvSpPr>
          <p:cNvPr id="4" name="card-123"/>
          <p:cNvSpPr/>
          <p:nvPr/>
        </p:nvSpPr>
        <p:spPr>
          <a:xfrm>
            <a:off x="457200" y="118872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tbl-124"/>
          <p:cNvSpPr txBox="1"/>
          <p:nvPr/>
        </p:nvSpPr>
        <p:spPr>
          <a:xfrm>
            <a:off x="530352" y="1261872"/>
            <a:ext cx="1682496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tblclasses</a:t>
            </a:r>
            <a:endParaRPr lang="en-US" sz="1400" dirty="0"/>
          </a:p>
        </p:txBody>
      </p:sp>
      <p:sp>
        <p:nvSpPr>
          <p:cNvPr id="6" name="text-125"/>
          <p:cNvSpPr txBox="1"/>
          <p:nvPr/>
        </p:nvSpPr>
        <p:spPr>
          <a:xfrm>
            <a:off x="594360" y="1755648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id  (PK)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ClassName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ClassNameNumeric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Section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CreationDate</a:t>
            </a:r>
            <a:endParaRPr lang="en-US" sz="1200" dirty="0"/>
          </a:p>
        </p:txBody>
      </p:sp>
      <p:sp>
        <p:nvSpPr>
          <p:cNvPr id="7" name="fk-126"/>
          <p:cNvSpPr/>
          <p:nvPr/>
        </p:nvSpPr>
        <p:spPr>
          <a:xfrm>
            <a:off x="2304288" y="2240280"/>
            <a:ext cx="237744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ard-127"/>
          <p:cNvSpPr/>
          <p:nvPr/>
        </p:nvSpPr>
        <p:spPr>
          <a:xfrm>
            <a:off x="2560320" y="118872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9" name="tbl-128"/>
          <p:cNvSpPr txBox="1"/>
          <p:nvPr/>
        </p:nvSpPr>
        <p:spPr>
          <a:xfrm>
            <a:off x="2633472" y="1261872"/>
            <a:ext cx="1682496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tblstudents</a:t>
            </a:r>
            <a:endParaRPr lang="en-US" sz="1400" dirty="0"/>
          </a:p>
        </p:txBody>
      </p:sp>
      <p:sp>
        <p:nvSpPr>
          <p:cNvPr id="10" name="text-129"/>
          <p:cNvSpPr txBox="1"/>
          <p:nvPr/>
        </p:nvSpPr>
        <p:spPr>
          <a:xfrm>
            <a:off x="2697480" y="1755648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StudentId  (PK)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StudentName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RollId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StudentEmail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ClassId  (FK)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endParaRPr lang="en-US" sz="1200" dirty="0"/>
          </a:p>
        </p:txBody>
      </p:sp>
      <p:sp>
        <p:nvSpPr>
          <p:cNvPr id="11" name="fk-130"/>
          <p:cNvSpPr/>
          <p:nvPr/>
        </p:nvSpPr>
        <p:spPr>
          <a:xfrm>
            <a:off x="4407408" y="2240280"/>
            <a:ext cx="237744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card-131"/>
          <p:cNvSpPr/>
          <p:nvPr/>
        </p:nvSpPr>
        <p:spPr>
          <a:xfrm>
            <a:off x="4663440" y="118872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3" name="tbl-132"/>
          <p:cNvSpPr txBox="1"/>
          <p:nvPr/>
        </p:nvSpPr>
        <p:spPr>
          <a:xfrm>
            <a:off x="4736592" y="1261872"/>
            <a:ext cx="168249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tblresult</a:t>
            </a:r>
            <a:endParaRPr lang="en-US" sz="1400" dirty="0"/>
          </a:p>
        </p:txBody>
      </p:sp>
      <p:sp>
        <p:nvSpPr>
          <p:cNvPr id="14" name="text-133"/>
          <p:cNvSpPr txBox="1"/>
          <p:nvPr/>
        </p:nvSpPr>
        <p:spPr>
          <a:xfrm>
            <a:off x="4800600" y="1755648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id  (PK)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StudentId  (FK)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ClassId  (FK)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SubjectId  (FK)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marks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UpdationDate</a:t>
            </a:r>
            <a:endParaRPr lang="en-US" sz="1200" dirty="0"/>
          </a:p>
        </p:txBody>
      </p:sp>
      <p:sp>
        <p:nvSpPr>
          <p:cNvPr id="15" name="fk-134"/>
          <p:cNvSpPr/>
          <p:nvPr/>
        </p:nvSpPr>
        <p:spPr>
          <a:xfrm>
            <a:off x="6510528" y="2240280"/>
            <a:ext cx="237744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card-135"/>
          <p:cNvSpPr/>
          <p:nvPr/>
        </p:nvSpPr>
        <p:spPr>
          <a:xfrm>
            <a:off x="6766560" y="1188720"/>
            <a:ext cx="1828800" cy="24231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7" name="tbl-136"/>
          <p:cNvSpPr txBox="1"/>
          <p:nvPr/>
        </p:nvSpPr>
        <p:spPr>
          <a:xfrm>
            <a:off x="6839712" y="1261872"/>
            <a:ext cx="1682496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tblsubjects</a:t>
            </a:r>
            <a:endParaRPr lang="en-US" sz="1400" dirty="0"/>
          </a:p>
        </p:txBody>
      </p:sp>
      <p:sp>
        <p:nvSpPr>
          <p:cNvPr id="18" name="text-137"/>
          <p:cNvSpPr txBox="1"/>
          <p:nvPr/>
        </p:nvSpPr>
        <p:spPr>
          <a:xfrm>
            <a:off x="6903720" y="1755648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id  (PK)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SubjectName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SubjectCode</a:t>
            </a:r>
            <a:endParaRPr lang="en-US" sz="1200" dirty="0"/>
          </a:p>
        </p:txBody>
      </p:sp>
      <p:sp>
        <p:nvSpPr>
          <p:cNvPr id="19" name="card-138"/>
          <p:cNvSpPr/>
          <p:nvPr/>
        </p:nvSpPr>
        <p:spPr>
          <a:xfrm>
            <a:off x="457200" y="384048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0" name="nf-139"/>
          <p:cNvSpPr txBox="1"/>
          <p:nvPr/>
        </p:nvSpPr>
        <p:spPr>
          <a:xfrm>
            <a:off x="594360" y="3931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1NF</a:t>
            </a:r>
            <a:endParaRPr lang="en-US" sz="1400" dirty="0"/>
          </a:p>
        </p:txBody>
      </p:sp>
      <p:sp>
        <p:nvSpPr>
          <p:cNvPr id="21" name="text-140"/>
          <p:cNvSpPr txBox="1"/>
          <p:nvPr/>
        </p:nvSpPr>
        <p:spPr>
          <a:xfrm>
            <a:off x="128016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Atomic values</a:t>
            </a:r>
            <a:endParaRPr lang="en-US" sz="1400" dirty="0"/>
          </a:p>
        </p:txBody>
      </p:sp>
      <p:sp>
        <p:nvSpPr>
          <p:cNvPr id="22" name="card-141"/>
          <p:cNvSpPr/>
          <p:nvPr/>
        </p:nvSpPr>
        <p:spPr>
          <a:xfrm>
            <a:off x="3264408" y="384048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3" name="nf-142"/>
          <p:cNvSpPr txBox="1"/>
          <p:nvPr/>
        </p:nvSpPr>
        <p:spPr>
          <a:xfrm>
            <a:off x="3401568" y="3931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2NF</a:t>
            </a:r>
            <a:endParaRPr lang="en-US" sz="1400" dirty="0"/>
          </a:p>
        </p:txBody>
      </p:sp>
      <p:sp>
        <p:nvSpPr>
          <p:cNvPr id="24" name="text-143"/>
          <p:cNvSpPr txBox="1"/>
          <p:nvPr/>
        </p:nvSpPr>
        <p:spPr>
          <a:xfrm>
            <a:off x="4087368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partial dependency</a:t>
            </a:r>
            <a:endParaRPr lang="en-US" sz="1400" dirty="0"/>
          </a:p>
        </p:txBody>
      </p:sp>
      <p:sp>
        <p:nvSpPr>
          <p:cNvPr id="25" name="card-144"/>
          <p:cNvSpPr/>
          <p:nvPr/>
        </p:nvSpPr>
        <p:spPr>
          <a:xfrm>
            <a:off x="6071616" y="3840480"/>
            <a:ext cx="2624328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6" name="nf-145"/>
          <p:cNvSpPr txBox="1"/>
          <p:nvPr/>
        </p:nvSpPr>
        <p:spPr>
          <a:xfrm>
            <a:off x="6208776" y="3931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3NF</a:t>
            </a:r>
            <a:endParaRPr lang="en-US" sz="1400" dirty="0"/>
          </a:p>
        </p:txBody>
      </p:sp>
      <p:sp>
        <p:nvSpPr>
          <p:cNvPr id="27" name="text-146"/>
          <p:cNvSpPr txBox="1"/>
          <p:nvPr/>
        </p:nvSpPr>
        <p:spPr>
          <a:xfrm>
            <a:off x="6894576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transitive dependency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Public Portal &amp; Notices</a:t>
            </a:r>
            <a:endParaRPr lang="en-US" sz="3000" dirty="0"/>
          </a:p>
        </p:txBody>
      </p:sp>
      <p:sp>
        <p:nvSpPr>
          <p:cNvPr id="4" name="card-147"/>
          <p:cNvSpPr/>
          <p:nvPr/>
        </p:nvSpPr>
        <p:spPr>
          <a:xfrm>
            <a:off x="45720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5" name="shot-148" descr="img/s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785616" cy="2459736"/>
          </a:xfrm>
          <a:prstGeom prst="rect">
            <a:avLst/>
          </a:prstGeom>
        </p:spPr>
      </p:pic>
      <p:sp>
        <p:nvSpPr>
          <p:cNvPr id="6" name="num-149"/>
          <p:cNvSpPr txBox="1"/>
          <p:nvPr/>
        </p:nvSpPr>
        <p:spPr>
          <a:xfrm>
            <a:off x="347472" y="103327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-150"/>
          <p:cNvSpPr txBox="1"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University Landing Portal</a:t>
            </a:r>
            <a:endParaRPr lang="en-US" sz="1500" dirty="0"/>
          </a:p>
        </p:txBody>
      </p:sp>
      <p:sp>
        <p:nvSpPr>
          <p:cNvPr id="8" name="text-151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Student Result and Admin Login entry points; session-aware header.</a:t>
            </a:r>
            <a:endParaRPr lang="en-US" sz="1200" dirty="0"/>
          </a:p>
        </p:txBody>
      </p:sp>
      <p:sp>
        <p:nvSpPr>
          <p:cNvPr id="9" name="card-152"/>
          <p:cNvSpPr/>
          <p:nvPr/>
        </p:nvSpPr>
        <p:spPr>
          <a:xfrm>
            <a:off x="475488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10" name="shot-153" descr="img/s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16152"/>
            <a:ext cx="3785616" cy="2459736"/>
          </a:xfrm>
          <a:prstGeom prst="rect">
            <a:avLst/>
          </a:prstGeom>
        </p:spPr>
      </p:pic>
      <p:sp>
        <p:nvSpPr>
          <p:cNvPr id="11" name="num-154"/>
          <p:cNvSpPr txBox="1"/>
          <p:nvPr/>
        </p:nvSpPr>
        <p:spPr>
          <a:xfrm>
            <a:off x="4645152" y="103327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155"/>
          <p:cNvSpPr txBox="1"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Campus Highlights &amp; Notice Board</a:t>
            </a:r>
            <a:endParaRPr lang="en-US" sz="1500" dirty="0"/>
          </a:p>
        </p:txBody>
      </p:sp>
      <p:sp>
        <p:nvSpPr>
          <p:cNvPr id="13" name="text-156"/>
          <p:cNvSpPr txBox="1"/>
          <p:nvPr/>
        </p:nvSpPr>
        <p:spPr>
          <a:xfrm>
            <a:off x="475488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Dynamic circulars via PDO: SELECT … ORDER BY id DESC LIMIT 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Admin Gateway &amp; Dashboard</a:t>
            </a:r>
            <a:endParaRPr lang="en-US" sz="3000" dirty="0"/>
          </a:p>
        </p:txBody>
      </p:sp>
      <p:sp>
        <p:nvSpPr>
          <p:cNvPr id="4" name="card-157"/>
          <p:cNvSpPr/>
          <p:nvPr/>
        </p:nvSpPr>
        <p:spPr>
          <a:xfrm>
            <a:off x="45720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5" name="shot-158" descr="img/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785616" cy="2459736"/>
          </a:xfrm>
          <a:prstGeom prst="rect">
            <a:avLst/>
          </a:prstGeom>
        </p:spPr>
      </p:pic>
      <p:sp>
        <p:nvSpPr>
          <p:cNvPr id="6" name="num-159"/>
          <p:cNvSpPr txBox="1"/>
          <p:nvPr/>
        </p:nvSpPr>
        <p:spPr>
          <a:xfrm>
            <a:off x="347472" y="10332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7" name="text-160"/>
          <p:cNvSpPr txBox="1"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SuperAdmin Login</a:t>
            </a:r>
            <a:endParaRPr lang="en-US" sz="1500" dirty="0"/>
          </a:p>
        </p:txBody>
      </p:sp>
      <p:sp>
        <p:nvSpPr>
          <p:cNvPr id="8" name="text-161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Prepared query + session_regenerate_id(true) stops session fixation.</a:t>
            </a:r>
            <a:endParaRPr lang="en-US" sz="1200" dirty="0"/>
          </a:p>
        </p:txBody>
      </p:sp>
      <p:sp>
        <p:nvSpPr>
          <p:cNvPr id="9" name="card-162"/>
          <p:cNvSpPr/>
          <p:nvPr/>
        </p:nvSpPr>
        <p:spPr>
          <a:xfrm>
            <a:off x="475488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10" name="shot-163" descr="img/s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16152"/>
            <a:ext cx="3785616" cy="2459736"/>
          </a:xfrm>
          <a:prstGeom prst="rect">
            <a:avLst/>
          </a:prstGeom>
        </p:spPr>
      </p:pic>
      <p:sp>
        <p:nvSpPr>
          <p:cNvPr id="11" name="num-164"/>
          <p:cNvSpPr txBox="1"/>
          <p:nvPr/>
        </p:nvSpPr>
        <p:spPr>
          <a:xfrm>
            <a:off x="4645152" y="103327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-165"/>
          <p:cNvSpPr txBox="1"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Executive Control Panel</a:t>
            </a:r>
            <a:endParaRPr lang="en-US" sz="1500" dirty="0"/>
          </a:p>
        </p:txBody>
      </p:sp>
      <p:sp>
        <p:nvSpPr>
          <p:cNvPr id="13" name="text-166"/>
          <p:cNvSpPr txBox="1"/>
          <p:nvPr/>
        </p:nvSpPr>
        <p:spPr>
          <a:xfrm>
            <a:off x="475488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 KPI cards: students, subjects, classes and declared results.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&amp; Marks Entry</a:t>
            </a:r>
            <a:endParaRPr lang="en-US" sz="3000" dirty="0"/>
          </a:p>
        </p:txBody>
      </p:sp>
      <p:sp>
        <p:nvSpPr>
          <p:cNvPr id="4" name="card-167"/>
          <p:cNvSpPr/>
          <p:nvPr/>
        </p:nvSpPr>
        <p:spPr>
          <a:xfrm>
            <a:off x="45720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5" name="shot-168" descr="img/s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785616" cy="2459736"/>
          </a:xfrm>
          <a:prstGeom prst="rect">
            <a:avLst/>
          </a:prstGeom>
        </p:spPr>
      </p:pic>
      <p:sp>
        <p:nvSpPr>
          <p:cNvPr id="6" name="num-169"/>
          <p:cNvSpPr txBox="1"/>
          <p:nvPr/>
        </p:nvSpPr>
        <p:spPr>
          <a:xfrm>
            <a:off x="347472" y="103327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7" name="text-170"/>
          <p:cNvSpPr txBox="1"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Results Directory</a:t>
            </a:r>
            <a:endParaRPr lang="en-US" sz="1500" dirty="0"/>
          </a:p>
        </p:txBody>
      </p:sp>
      <p:sp>
        <p:nvSpPr>
          <p:cNvPr id="8" name="text-171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Joined view of results with one-click Edit Marks and audit timestamps.</a:t>
            </a:r>
            <a:endParaRPr lang="en-US" sz="1200" dirty="0"/>
          </a:p>
        </p:txBody>
      </p:sp>
      <p:sp>
        <p:nvSpPr>
          <p:cNvPr id="9" name="card-172"/>
          <p:cNvSpPr/>
          <p:nvPr/>
        </p:nvSpPr>
        <p:spPr>
          <a:xfrm>
            <a:off x="475488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10" name="shot-173" descr="img/s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16152"/>
            <a:ext cx="3785616" cy="2459736"/>
          </a:xfrm>
          <a:prstGeom prst="rect">
            <a:avLst/>
          </a:prstGeom>
        </p:spPr>
      </p:pic>
      <p:sp>
        <p:nvSpPr>
          <p:cNvPr id="11" name="num-174"/>
          <p:cNvSpPr txBox="1"/>
          <p:nvPr/>
        </p:nvSpPr>
        <p:spPr>
          <a:xfrm>
            <a:off x="4645152" y="103327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2" name="text-175"/>
          <p:cNvSpPr txBox="1"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Dynamic Marks Entry (AJAX)</a:t>
            </a:r>
            <a:endParaRPr lang="en-US" sz="1500" dirty="0"/>
          </a:p>
        </p:txBody>
      </p:sp>
      <p:sp>
        <p:nvSpPr>
          <p:cNvPr id="13" name="text-176"/>
          <p:cNvSpPr txBox="1"/>
          <p:nvPr/>
        </p:nvSpPr>
        <p:spPr>
          <a:xfrm>
            <a:off x="475488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Class-bound subjects load instantly; marks validated 0–100.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Student Marksheet Portal</a:t>
            </a:r>
            <a:endParaRPr lang="en-US" sz="3000" dirty="0"/>
          </a:p>
        </p:txBody>
      </p:sp>
      <p:sp>
        <p:nvSpPr>
          <p:cNvPr id="4" name="card-177"/>
          <p:cNvSpPr/>
          <p:nvPr/>
        </p:nvSpPr>
        <p:spPr>
          <a:xfrm>
            <a:off x="45720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5" name="search-shot" descr="img/s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785616" cy="2459736"/>
          </a:xfrm>
          <a:prstGeom prst="rect">
            <a:avLst/>
          </a:prstGeom>
        </p:spPr>
      </p:pic>
      <p:sp>
        <p:nvSpPr>
          <p:cNvPr id="6" name="text-178"/>
          <p:cNvSpPr txBox="1"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Roll ID Verification Search</a:t>
            </a:r>
            <a:endParaRPr lang="en-US" sz="1500" dirty="0"/>
          </a:p>
        </p:txBody>
      </p:sp>
      <p:sp>
        <p:nvSpPr>
          <p:cNvPr id="7" name="text-179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HTML5 + server-side validation, parameter-bound query.</a:t>
            </a:r>
            <a:endParaRPr lang="en-US" sz="1200" dirty="0"/>
          </a:p>
        </p:txBody>
      </p:sp>
      <p:sp>
        <p:nvSpPr>
          <p:cNvPr id="8" name="card-180"/>
          <p:cNvSpPr/>
          <p:nvPr/>
        </p:nvSpPr>
        <p:spPr>
          <a:xfrm>
            <a:off x="4617720" y="114300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9" name="text-181"/>
          <p:cNvSpPr txBox="1"/>
          <p:nvPr/>
        </p:nvSpPr>
        <p:spPr>
          <a:xfrm>
            <a:off x="4617720" y="12161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616 / 700</a:t>
            </a:r>
            <a:endParaRPr lang="en-US" sz="1800" dirty="0"/>
          </a:p>
        </p:txBody>
      </p:sp>
      <p:sp>
        <p:nvSpPr>
          <p:cNvPr id="10" name="text-182"/>
          <p:cNvSpPr txBox="1"/>
          <p:nvPr/>
        </p:nvSpPr>
        <p:spPr>
          <a:xfrm>
            <a:off x="4617720" y="1600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Total marks</a:t>
            </a:r>
            <a:endParaRPr lang="en-US" sz="1200" dirty="0"/>
          </a:p>
        </p:txBody>
      </p:sp>
      <p:sp>
        <p:nvSpPr>
          <p:cNvPr id="11" name="card-183"/>
          <p:cNvSpPr/>
          <p:nvPr/>
        </p:nvSpPr>
        <p:spPr>
          <a:xfrm>
            <a:off x="4617720" y="201168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2" name="text-184"/>
          <p:cNvSpPr txBox="1"/>
          <p:nvPr/>
        </p:nvSpPr>
        <p:spPr>
          <a:xfrm>
            <a:off x="461772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88 %</a:t>
            </a:r>
            <a:endParaRPr lang="en-US" sz="1800" dirty="0"/>
          </a:p>
        </p:txBody>
      </p:sp>
      <p:sp>
        <p:nvSpPr>
          <p:cNvPr id="13" name="text-185"/>
          <p:cNvSpPr txBox="1"/>
          <p:nvPr/>
        </p:nvSpPr>
        <p:spPr>
          <a:xfrm>
            <a:off x="4617720" y="2468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Percentage</a:t>
            </a:r>
            <a:endParaRPr lang="en-US" sz="1200" dirty="0"/>
          </a:p>
        </p:txBody>
      </p:sp>
      <p:sp>
        <p:nvSpPr>
          <p:cNvPr id="14" name="card-186"/>
          <p:cNvSpPr/>
          <p:nvPr/>
        </p:nvSpPr>
        <p:spPr>
          <a:xfrm>
            <a:off x="4617720" y="288036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5" name="text-187"/>
          <p:cNvSpPr txBox="1"/>
          <p:nvPr/>
        </p:nvSpPr>
        <p:spPr>
          <a:xfrm>
            <a:off x="4617720" y="29535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9.29 / 10</a:t>
            </a:r>
            <a:endParaRPr lang="en-US" sz="1800" dirty="0"/>
          </a:p>
        </p:txBody>
      </p:sp>
      <p:sp>
        <p:nvSpPr>
          <p:cNvPr id="16" name="text-188"/>
          <p:cNvSpPr txBox="1"/>
          <p:nvPr/>
        </p:nvSpPr>
        <p:spPr>
          <a:xfrm>
            <a:off x="4617720" y="3337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Cumulative SGPA</a:t>
            </a:r>
            <a:endParaRPr lang="en-US" sz="1200" dirty="0"/>
          </a:p>
        </p:txBody>
      </p:sp>
      <p:sp>
        <p:nvSpPr>
          <p:cNvPr id="17" name="card-189"/>
          <p:cNvSpPr/>
          <p:nvPr/>
        </p:nvSpPr>
        <p:spPr>
          <a:xfrm>
            <a:off x="4617720" y="3749040"/>
            <a:ext cx="160020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8" name="text-190"/>
          <p:cNvSpPr txBox="1"/>
          <p:nvPr/>
        </p:nvSpPr>
        <p:spPr>
          <a:xfrm>
            <a:off x="4617720" y="3822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PASS</a:t>
            </a:r>
            <a:endParaRPr lang="en-US" sz="1800" dirty="0"/>
          </a:p>
        </p:txBody>
      </p:sp>
      <p:sp>
        <p:nvSpPr>
          <p:cNvPr id="19" name="text-191"/>
          <p:cNvSpPr txBox="1"/>
          <p:nvPr/>
        </p:nvSpPr>
        <p:spPr>
          <a:xfrm>
            <a:off x="4617720" y="4206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Distinction</a:t>
            </a:r>
            <a:endParaRPr lang="en-US" sz="1200" dirty="0"/>
          </a:p>
        </p:txBody>
      </p:sp>
      <p:sp>
        <p:nvSpPr>
          <p:cNvPr id="20" name="card-192"/>
          <p:cNvSpPr/>
          <p:nvPr/>
        </p:nvSpPr>
        <p:spPr>
          <a:xfrm>
            <a:off x="6400800" y="1143000"/>
            <a:ext cx="2331720" cy="342900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pic>
        <p:nvPicPr>
          <p:cNvPr id="21" name="marksheet-shot" descr="img/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197864"/>
            <a:ext cx="2221992" cy="30598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Grading Engine in Code</a:t>
            </a:r>
            <a:endParaRPr lang="en-US" sz="3000" dirty="0"/>
          </a:p>
        </p:txBody>
      </p:sp>
      <p:sp>
        <p:nvSpPr>
          <p:cNvPr id="4" name="card-193"/>
          <p:cNvSpPr/>
          <p:nvPr/>
        </p:nvSpPr>
        <p:spPr>
          <a:xfrm>
            <a:off x="457200" y="114300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0F0A2A"/>
          </a:solidFill>
          <a:ln/>
        </p:spPr>
      </p:sp>
      <p:sp>
        <p:nvSpPr>
          <p:cNvPr id="5" name="text-194"/>
          <p:cNvSpPr txBox="1"/>
          <p:nvPr/>
        </p:nvSpPr>
        <p:spPr>
          <a:xfrm>
            <a:off x="6858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PHP  •  result.php</a:t>
            </a:r>
            <a:endParaRPr lang="en-US" sz="1100" dirty="0"/>
          </a:p>
        </p:txBody>
      </p:sp>
      <p:sp>
        <p:nvSpPr>
          <p:cNvPr id="6" name="text-195"/>
          <p:cNvSpPr txBox="1"/>
          <p:nvPr/>
        </p:nvSpPr>
        <p:spPr>
          <a:xfrm>
            <a:off x="685800" y="1600200"/>
            <a:ext cx="4572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prepared, parameter-bound 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$dbh-&gt;prepare($query);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':rollid'  =&gt; $rollid,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':classid' =&gt; $classid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$results = $stmt-&gt;fetchAll();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($results as $row)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$totalobtained += $row-&gt;marks;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$percentage = ($totalobtained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$totallabel) * 100;</a:t>
            </a:r>
            <a:endParaRPr lang="en-US" sz="1200" dirty="0"/>
          </a:p>
        </p:txBody>
      </p:sp>
      <p:sp>
        <p:nvSpPr>
          <p:cNvPr id="7" name="card-196"/>
          <p:cNvSpPr/>
          <p:nvPr/>
        </p:nvSpPr>
        <p:spPr>
          <a:xfrm>
            <a:off x="5623560" y="1143000"/>
            <a:ext cx="3063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8" name="badge-197"/>
          <p:cNvSpPr/>
          <p:nvPr/>
        </p:nvSpPr>
        <p:spPr>
          <a:xfrm>
            <a:off x="5760720" y="139903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-1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508" y="1534820"/>
            <a:ext cx="231343" cy="231343"/>
          </a:xfrm>
          <a:prstGeom prst="rect">
            <a:avLst/>
          </a:prstGeom>
        </p:spPr>
      </p:pic>
      <p:sp>
        <p:nvSpPr>
          <p:cNvPr id="10" name="text-199"/>
          <p:cNvSpPr txBox="1"/>
          <p:nvPr/>
        </p:nvSpPr>
        <p:spPr>
          <a:xfrm>
            <a:off x="6400800" y="1252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Prepared JOIN query</a:t>
            </a:r>
            <a:endParaRPr lang="en-US" sz="1400" dirty="0"/>
          </a:p>
        </p:txBody>
      </p:sp>
      <p:sp>
        <p:nvSpPr>
          <p:cNvPr id="11" name="text-200"/>
          <p:cNvSpPr txBox="1"/>
          <p:nvPr/>
        </p:nvSpPr>
        <p:spPr>
          <a:xfrm>
            <a:off x="6400800" y="1554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tblresult + tblstudents + tblsubjects + tblclasses</a:t>
            </a:r>
            <a:endParaRPr lang="en-US" sz="1200" dirty="0"/>
          </a:p>
        </p:txBody>
      </p:sp>
      <p:sp>
        <p:nvSpPr>
          <p:cNvPr id="12" name="card-201"/>
          <p:cNvSpPr/>
          <p:nvPr/>
        </p:nvSpPr>
        <p:spPr>
          <a:xfrm>
            <a:off x="5623560" y="2331720"/>
            <a:ext cx="3063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3" name="badge-202"/>
          <p:cNvSpPr/>
          <p:nvPr/>
        </p:nvSpPr>
        <p:spPr>
          <a:xfrm>
            <a:off x="5760720" y="25877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2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508" y="2723540"/>
            <a:ext cx="231343" cy="231343"/>
          </a:xfrm>
          <a:prstGeom prst="rect">
            <a:avLst/>
          </a:prstGeom>
        </p:spPr>
      </p:pic>
      <p:sp>
        <p:nvSpPr>
          <p:cNvPr id="15" name="text-204"/>
          <p:cNvSpPr txBox="1"/>
          <p:nvPr/>
        </p:nvSpPr>
        <p:spPr>
          <a:xfrm>
            <a:off x="6400800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Aggregate &amp; percentage</a:t>
            </a:r>
            <a:endParaRPr lang="en-US" sz="1400" dirty="0"/>
          </a:p>
        </p:txBody>
      </p:sp>
      <p:sp>
        <p:nvSpPr>
          <p:cNvPr id="16" name="text-205"/>
          <p:cNvSpPr txBox="1"/>
          <p:nvPr/>
        </p:nvSpPr>
        <p:spPr>
          <a:xfrm>
            <a:off x="640080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Total, % and Distinction / First Class / Pass</a:t>
            </a:r>
            <a:endParaRPr lang="en-US" sz="1200" dirty="0"/>
          </a:p>
        </p:txBody>
      </p:sp>
      <p:sp>
        <p:nvSpPr>
          <p:cNvPr id="17" name="card-206"/>
          <p:cNvSpPr/>
          <p:nvPr/>
        </p:nvSpPr>
        <p:spPr>
          <a:xfrm>
            <a:off x="5623560" y="3520440"/>
            <a:ext cx="3063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8" name="badge-207"/>
          <p:cNvSpPr/>
          <p:nvPr/>
        </p:nvSpPr>
        <p:spPr>
          <a:xfrm>
            <a:off x="5760720" y="3776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2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508" y="3912260"/>
            <a:ext cx="231343" cy="231343"/>
          </a:xfrm>
          <a:prstGeom prst="rect">
            <a:avLst/>
          </a:prstGeom>
        </p:spPr>
      </p:pic>
      <p:sp>
        <p:nvSpPr>
          <p:cNvPr id="20" name="text-209"/>
          <p:cNvSpPr txBox="1"/>
          <p:nvPr/>
        </p:nvSpPr>
        <p:spPr>
          <a:xfrm>
            <a:off x="6400800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Grade points → SGPA</a:t>
            </a:r>
            <a:endParaRPr lang="en-US" sz="1400" dirty="0"/>
          </a:p>
        </p:txBody>
      </p:sp>
      <p:sp>
        <p:nvSpPr>
          <p:cNvPr id="21" name="text-210"/>
          <p:cNvSpPr txBox="1"/>
          <p:nvPr/>
        </p:nvSpPr>
        <p:spPr>
          <a:xfrm>
            <a:off x="640080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= 10, A+ = 9, A = 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Security Hardening</a:t>
            </a:r>
            <a:endParaRPr lang="en-US" sz="3000" dirty="0"/>
          </a:p>
        </p:txBody>
      </p:sp>
      <p:sp>
        <p:nvSpPr>
          <p:cNvPr id="4" name="card-211"/>
          <p:cNvSpPr/>
          <p:nvPr/>
        </p:nvSpPr>
        <p:spPr>
          <a:xfrm>
            <a:off x="457200" y="118872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5" name="badge-212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-2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1714957"/>
            <a:ext cx="273406" cy="273406"/>
          </a:xfrm>
          <a:prstGeom prst="rect">
            <a:avLst/>
          </a:prstGeom>
        </p:spPr>
      </p:pic>
      <p:sp>
        <p:nvSpPr>
          <p:cNvPr id="7" name="text-214"/>
          <p:cNvSpPr txBox="1"/>
          <p:nvPr/>
        </p:nvSpPr>
        <p:spPr>
          <a:xfrm>
            <a:off x="1417320" y="1325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SQL Injection</a:t>
            </a:r>
            <a:endParaRPr lang="en-US" sz="1600" dirty="0"/>
          </a:p>
        </p:txBody>
      </p:sp>
      <p:sp>
        <p:nvSpPr>
          <p:cNvPr id="8" name="text-215"/>
          <p:cNvSpPr txBox="1"/>
          <p:nvPr/>
        </p:nvSpPr>
        <p:spPr>
          <a:xfrm>
            <a:off x="1417320" y="16916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100% PDO prepared statements, zero raw query concatenation</a:t>
            </a:r>
            <a:endParaRPr lang="en-US" sz="1400" dirty="0"/>
          </a:p>
        </p:txBody>
      </p:sp>
      <p:sp>
        <p:nvSpPr>
          <p:cNvPr id="9" name="card-216"/>
          <p:cNvSpPr/>
          <p:nvPr/>
        </p:nvSpPr>
        <p:spPr>
          <a:xfrm>
            <a:off x="4709160" y="118872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0" name="badge-217"/>
          <p:cNvSpPr/>
          <p:nvPr/>
        </p:nvSpPr>
        <p:spPr>
          <a:xfrm>
            <a:off x="489204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-2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517" y="1714957"/>
            <a:ext cx="273406" cy="273406"/>
          </a:xfrm>
          <a:prstGeom prst="rect">
            <a:avLst/>
          </a:prstGeom>
        </p:spPr>
      </p:pic>
      <p:sp>
        <p:nvSpPr>
          <p:cNvPr id="12" name="text-219"/>
          <p:cNvSpPr txBox="1"/>
          <p:nvPr/>
        </p:nvSpPr>
        <p:spPr>
          <a:xfrm>
            <a:off x="5669280" y="1325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Cross-Site Scripting</a:t>
            </a:r>
            <a:endParaRPr lang="en-US" sz="1600" dirty="0"/>
          </a:p>
        </p:txBody>
      </p:sp>
      <p:sp>
        <p:nvSpPr>
          <p:cNvPr id="13" name="text-220"/>
          <p:cNvSpPr txBox="1"/>
          <p:nvPr/>
        </p:nvSpPr>
        <p:spPr>
          <a:xfrm>
            <a:off x="5669280" y="16916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htmlspecialchars() encoding on all dynamic output</a:t>
            </a:r>
            <a:endParaRPr lang="en-US" sz="1400" dirty="0"/>
          </a:p>
        </p:txBody>
      </p:sp>
      <p:sp>
        <p:nvSpPr>
          <p:cNvPr id="14" name="card-221"/>
          <p:cNvSpPr/>
          <p:nvPr/>
        </p:nvSpPr>
        <p:spPr>
          <a:xfrm>
            <a:off x="45720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5" name="badge-222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2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7" y="3223717"/>
            <a:ext cx="273406" cy="273406"/>
          </a:xfrm>
          <a:prstGeom prst="rect">
            <a:avLst/>
          </a:prstGeom>
        </p:spPr>
      </p:pic>
      <p:sp>
        <p:nvSpPr>
          <p:cNvPr id="17" name="text-224"/>
          <p:cNvSpPr txBox="1"/>
          <p:nvPr/>
        </p:nvSpPr>
        <p:spPr>
          <a:xfrm>
            <a:off x="141732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Broken Access Control</a:t>
            </a:r>
            <a:endParaRPr lang="en-US" sz="1600" dirty="0"/>
          </a:p>
        </p:txBody>
      </p:sp>
      <p:sp>
        <p:nvSpPr>
          <p:cNvPr id="18" name="text-225"/>
          <p:cNvSpPr txBox="1"/>
          <p:nvPr/>
        </p:nvSpPr>
        <p:spPr>
          <a:xfrm>
            <a:off x="1417320" y="3200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Session check on every admin page; redirect if not logged in</a:t>
            </a:r>
            <a:endParaRPr lang="en-US" sz="1400" dirty="0"/>
          </a:p>
        </p:txBody>
      </p:sp>
      <p:sp>
        <p:nvSpPr>
          <p:cNvPr id="19" name="card-226"/>
          <p:cNvSpPr/>
          <p:nvPr/>
        </p:nvSpPr>
        <p:spPr>
          <a:xfrm>
            <a:off x="470916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0" name="badge-227"/>
          <p:cNvSpPr/>
          <p:nvPr/>
        </p:nvSpPr>
        <p:spPr>
          <a:xfrm>
            <a:off x="4892040" y="30632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-22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517" y="3223717"/>
            <a:ext cx="273406" cy="273406"/>
          </a:xfrm>
          <a:prstGeom prst="rect">
            <a:avLst/>
          </a:prstGeom>
        </p:spPr>
      </p:pic>
      <p:sp>
        <p:nvSpPr>
          <p:cNvPr id="22" name="text-229"/>
          <p:cNvSpPr txBox="1"/>
          <p:nvPr/>
        </p:nvSpPr>
        <p:spPr>
          <a:xfrm>
            <a:off x="566928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Cryptographic Failures</a:t>
            </a:r>
            <a:endParaRPr lang="en-US" sz="1600" dirty="0"/>
          </a:p>
        </p:txBody>
      </p:sp>
      <p:sp>
        <p:nvSpPr>
          <p:cNvPr id="23" name="text-230"/>
          <p:cNvSpPr txBox="1"/>
          <p:nvPr/>
        </p:nvSpPr>
        <p:spPr>
          <a:xfrm>
            <a:off x="5669280" y="3200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Hashed admin credentials; bcrypt / Argon2id upgrade planned</a:t>
            </a:r>
            <a:endParaRPr lang="en-US" sz="1400" dirty="0"/>
          </a:p>
        </p:txBody>
      </p:sp>
      <p:sp>
        <p:nvSpPr>
          <p:cNvPr id="24" name="also-strip"/>
          <p:cNvSpPr txBox="1"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26667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Also: session regeneration  •  input whitelisting  •  generic public error messages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&amp; Quality</a:t>
            </a:r>
            <a:endParaRPr lang="en-US" sz="3000" dirty="0"/>
          </a:p>
        </p:txBody>
      </p:sp>
      <p:graphicFrame>
        <p:nvGraphicFramePr>
          <p:cNvPr id="14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320040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E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E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Admin valid login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Redirect to dashboard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Admin wrong password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Invalid credentials alert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SQL injection  ' OR '1'='1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Input sanitized, no leak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Dynamic subject AJAX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Subjects load for class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TC-05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Duplicate result entry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Database rejects duplicate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TC-06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Valid student search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Correct marksheet shown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Non-existent roll ID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Student not found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1E8A"/>
                          </a:solidFill>
                        </a:rPr>
                        <a:t>TC-08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Print transcript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040"/>
                          </a:solidFill>
                        </a:rPr>
                        <a:t>Clean print preview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F"/>
                    </a:solidFill>
                  </a:tcPr>
                </a:tc>
              </a:tr>
            </a:tbl>
          </a:graphicData>
        </a:graphic>
      </p:graphicFrame>
      <p:sp>
        <p:nvSpPr>
          <p:cNvPr id="5" name="card-231"/>
          <p:cNvSpPr/>
          <p:nvPr/>
        </p:nvSpPr>
        <p:spPr>
          <a:xfrm>
            <a:off x="457200" y="3931920"/>
            <a:ext cx="2624328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6" name="text-232"/>
          <p:cNvSpPr txBox="1"/>
          <p:nvPr/>
        </p:nvSpPr>
        <p:spPr>
          <a:xfrm>
            <a:off x="457200" y="393192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 / 8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tests passed</a:t>
            </a:r>
            <a:endParaRPr lang="en-US" sz="2000" dirty="0"/>
          </a:p>
        </p:txBody>
      </p:sp>
      <p:sp>
        <p:nvSpPr>
          <p:cNvPr id="7" name="card-233"/>
          <p:cNvSpPr/>
          <p:nvPr/>
        </p:nvSpPr>
        <p:spPr>
          <a:xfrm>
            <a:off x="3264408" y="3931920"/>
            <a:ext cx="2624328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8" name="text-234"/>
          <p:cNvSpPr txBox="1"/>
          <p:nvPr/>
        </p:nvSpPr>
        <p:spPr>
          <a:xfrm>
            <a:off x="3264408" y="393192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&lt;120 ms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search, 10k records</a:t>
            </a:r>
            <a:endParaRPr lang="en-US" sz="2000" dirty="0"/>
          </a:p>
        </p:txBody>
      </p:sp>
      <p:sp>
        <p:nvSpPr>
          <p:cNvPr id="9" name="card-235"/>
          <p:cNvSpPr/>
          <p:nvPr/>
        </p:nvSpPr>
        <p:spPr>
          <a:xfrm>
            <a:off x="6071616" y="3931920"/>
            <a:ext cx="2624328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0" name="text-236"/>
          <p:cNvSpPr txBox="1"/>
          <p:nvPr/>
        </p:nvSpPr>
        <p:spPr>
          <a:xfrm>
            <a:off x="6071616" y="393192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browsers verified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Future Roadmap</a:t>
            </a:r>
            <a:endParaRPr lang="en-US" sz="3000" dirty="0"/>
          </a:p>
        </p:txBody>
      </p:sp>
      <p:sp>
        <p:nvSpPr>
          <p:cNvPr id="4" name="card-237"/>
          <p:cNvSpPr/>
          <p:nvPr/>
        </p:nvSpPr>
        <p:spPr>
          <a:xfrm>
            <a:off x="457200" y="1234440"/>
            <a:ext cx="1536192" cy="301752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5" name="badge-238"/>
          <p:cNvSpPr/>
          <p:nvPr/>
        </p:nvSpPr>
        <p:spPr>
          <a:xfrm>
            <a:off x="859536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2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660550"/>
            <a:ext cx="336499" cy="336499"/>
          </a:xfrm>
          <a:prstGeom prst="rect">
            <a:avLst/>
          </a:prstGeom>
        </p:spPr>
      </p:pic>
      <p:sp>
        <p:nvSpPr>
          <p:cNvPr id="7" name="text-240"/>
          <p:cNvSpPr txBox="1"/>
          <p:nvPr/>
        </p:nvSpPr>
        <p:spPr>
          <a:xfrm>
            <a:off x="457200" y="2331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-241"/>
          <p:cNvSpPr txBox="1"/>
          <p:nvPr/>
        </p:nvSpPr>
        <p:spPr>
          <a:xfrm>
            <a:off x="548640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QR Verification</a:t>
            </a:r>
            <a:endParaRPr lang="en-US" sz="1400" dirty="0"/>
          </a:p>
        </p:txBody>
      </p:sp>
      <p:sp>
        <p:nvSpPr>
          <p:cNvPr id="9" name="text-242"/>
          <p:cNvSpPr txBox="1"/>
          <p:nvPr/>
        </p:nvSpPr>
        <p:spPr>
          <a:xfrm>
            <a:off x="566928" y="324612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Signed QR on each marksheet for instant checks</a:t>
            </a:r>
            <a:endParaRPr lang="en-US" sz="1200" dirty="0"/>
          </a:p>
        </p:txBody>
      </p:sp>
      <p:sp>
        <p:nvSpPr>
          <p:cNvPr id="10" name="card-243"/>
          <p:cNvSpPr/>
          <p:nvPr/>
        </p:nvSpPr>
        <p:spPr>
          <a:xfrm>
            <a:off x="2130552" y="1234440"/>
            <a:ext cx="1536192" cy="301752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1" name="badge-244"/>
          <p:cNvSpPr/>
          <p:nvPr/>
        </p:nvSpPr>
        <p:spPr>
          <a:xfrm>
            <a:off x="2532888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2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98" y="1660550"/>
            <a:ext cx="336499" cy="336499"/>
          </a:xfrm>
          <a:prstGeom prst="rect">
            <a:avLst/>
          </a:prstGeom>
        </p:spPr>
      </p:pic>
      <p:sp>
        <p:nvSpPr>
          <p:cNvPr id="13" name="text-246"/>
          <p:cNvSpPr txBox="1"/>
          <p:nvPr/>
        </p:nvSpPr>
        <p:spPr>
          <a:xfrm>
            <a:off x="2130552" y="2331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-247"/>
          <p:cNvSpPr txBox="1"/>
          <p:nvPr/>
        </p:nvSpPr>
        <p:spPr>
          <a:xfrm>
            <a:off x="2221992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SMS &amp; WhatsApp</a:t>
            </a:r>
            <a:endParaRPr lang="en-US" sz="1400" dirty="0"/>
          </a:p>
        </p:txBody>
      </p:sp>
      <p:sp>
        <p:nvSpPr>
          <p:cNvPr id="15" name="text-248"/>
          <p:cNvSpPr txBox="1"/>
          <p:nvPr/>
        </p:nvSpPr>
        <p:spPr>
          <a:xfrm>
            <a:off x="2240280" y="324612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Alerts the moment marks are published</a:t>
            </a:r>
            <a:endParaRPr lang="en-US" sz="1200" dirty="0"/>
          </a:p>
        </p:txBody>
      </p:sp>
      <p:sp>
        <p:nvSpPr>
          <p:cNvPr id="16" name="card-249"/>
          <p:cNvSpPr/>
          <p:nvPr/>
        </p:nvSpPr>
        <p:spPr>
          <a:xfrm>
            <a:off x="3803904" y="1234440"/>
            <a:ext cx="1536192" cy="301752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17" name="badge-250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2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660550"/>
            <a:ext cx="336499" cy="336499"/>
          </a:xfrm>
          <a:prstGeom prst="rect">
            <a:avLst/>
          </a:prstGeom>
        </p:spPr>
      </p:pic>
      <p:sp>
        <p:nvSpPr>
          <p:cNvPr id="19" name="text-252"/>
          <p:cNvSpPr txBox="1"/>
          <p:nvPr/>
        </p:nvSpPr>
        <p:spPr>
          <a:xfrm>
            <a:off x="3803904" y="2331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-253"/>
          <p:cNvSpPr txBox="1"/>
          <p:nvPr/>
        </p:nvSpPr>
        <p:spPr>
          <a:xfrm>
            <a:off x="3895344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Blockchain Credentials</a:t>
            </a:r>
            <a:endParaRPr lang="en-US" sz="1400" dirty="0"/>
          </a:p>
        </p:txBody>
      </p:sp>
      <p:sp>
        <p:nvSpPr>
          <p:cNvPr id="21" name="text-254"/>
          <p:cNvSpPr txBox="1"/>
          <p:nvPr/>
        </p:nvSpPr>
        <p:spPr>
          <a:xfrm>
            <a:off x="3913632" y="324612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Tamper-proof transcript hashes</a:t>
            </a:r>
            <a:endParaRPr lang="en-US" sz="1200" dirty="0"/>
          </a:p>
        </p:txBody>
      </p:sp>
      <p:sp>
        <p:nvSpPr>
          <p:cNvPr id="22" name="card-255"/>
          <p:cNvSpPr/>
          <p:nvPr/>
        </p:nvSpPr>
        <p:spPr>
          <a:xfrm>
            <a:off x="5477256" y="1234440"/>
            <a:ext cx="1536192" cy="301752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3" name="badge-256"/>
          <p:cNvSpPr/>
          <p:nvPr/>
        </p:nvSpPr>
        <p:spPr>
          <a:xfrm>
            <a:off x="5879592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-25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102" y="1660550"/>
            <a:ext cx="336499" cy="336499"/>
          </a:xfrm>
          <a:prstGeom prst="rect">
            <a:avLst/>
          </a:prstGeom>
        </p:spPr>
      </p:pic>
      <p:sp>
        <p:nvSpPr>
          <p:cNvPr id="25" name="text-258"/>
          <p:cNvSpPr txBox="1"/>
          <p:nvPr/>
        </p:nvSpPr>
        <p:spPr>
          <a:xfrm>
            <a:off x="5477256" y="2331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-259"/>
          <p:cNvSpPr txBox="1"/>
          <p:nvPr/>
        </p:nvSpPr>
        <p:spPr>
          <a:xfrm>
            <a:off x="5568696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Analytics</a:t>
            </a:r>
            <a:endParaRPr lang="en-US" sz="1400" dirty="0"/>
          </a:p>
        </p:txBody>
      </p:sp>
      <p:sp>
        <p:nvSpPr>
          <p:cNvPr id="27" name="text-260"/>
          <p:cNvSpPr txBox="1"/>
          <p:nvPr/>
        </p:nvSpPr>
        <p:spPr>
          <a:xfrm>
            <a:off x="5586984" y="324612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Predict weak subjects before finals</a:t>
            </a:r>
            <a:endParaRPr lang="en-US" sz="1200" dirty="0"/>
          </a:p>
        </p:txBody>
      </p:sp>
      <p:sp>
        <p:nvSpPr>
          <p:cNvPr id="28" name="card-261"/>
          <p:cNvSpPr/>
          <p:nvPr/>
        </p:nvSpPr>
        <p:spPr>
          <a:xfrm>
            <a:off x="7150608" y="1234440"/>
            <a:ext cx="1536192" cy="301752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A1040">
                <a:alpha val="18000"/>
              </a:srgbClr>
            </a:outerShdw>
          </a:effectLst>
        </p:spPr>
      </p:sp>
      <p:sp>
        <p:nvSpPr>
          <p:cNvPr id="29" name="badge-262"/>
          <p:cNvSpPr/>
          <p:nvPr/>
        </p:nvSpPr>
        <p:spPr>
          <a:xfrm>
            <a:off x="7552944" y="1463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-2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454" y="1660550"/>
            <a:ext cx="336499" cy="336499"/>
          </a:xfrm>
          <a:prstGeom prst="rect">
            <a:avLst/>
          </a:prstGeom>
        </p:spPr>
      </p:pic>
      <p:sp>
        <p:nvSpPr>
          <p:cNvPr id="31" name="text-264"/>
          <p:cNvSpPr txBox="1"/>
          <p:nvPr/>
        </p:nvSpPr>
        <p:spPr>
          <a:xfrm>
            <a:off x="7150608" y="23317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-265"/>
          <p:cNvSpPr txBox="1"/>
          <p:nvPr/>
        </p:nvSpPr>
        <p:spPr>
          <a:xfrm>
            <a:off x="7242048" y="2651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Multi-Tier Grading</a:t>
            </a:r>
            <a:endParaRPr lang="en-US" sz="1400" dirty="0"/>
          </a:p>
        </p:txBody>
      </p:sp>
      <p:sp>
        <p:nvSpPr>
          <p:cNvPr id="33" name="text-266"/>
          <p:cNvSpPr txBox="1"/>
          <p:nvPr/>
        </p:nvSpPr>
        <p:spPr>
          <a:xfrm>
            <a:off x="7260336" y="324612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Professor entry with HOD approval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&amp; Thank You</a:t>
            </a:r>
            <a:endParaRPr lang="en-US" sz="3000" dirty="0"/>
          </a:p>
        </p:txBody>
      </p:sp>
      <p:sp>
        <p:nvSpPr>
          <p:cNvPr id="4" name="badge-267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-2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1382573"/>
            <a:ext cx="252374" cy="252374"/>
          </a:xfrm>
          <a:prstGeom prst="rect">
            <a:avLst/>
          </a:prstGeom>
        </p:spPr>
      </p:pic>
      <p:sp>
        <p:nvSpPr>
          <p:cNvPr id="6" name="text-269"/>
          <p:cNvSpPr txBox="1"/>
          <p:nvPr/>
        </p:nvSpPr>
        <p:spPr>
          <a:xfrm>
            <a:off x="1188720" y="1234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Automated, error-free grading with 100% fidelity</a:t>
            </a:r>
            <a:endParaRPr lang="en-US" sz="1600" dirty="0"/>
          </a:p>
        </p:txBody>
      </p:sp>
      <p:sp>
        <p:nvSpPr>
          <p:cNvPr id="7" name="badge-270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-2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2159813"/>
            <a:ext cx="252374" cy="252374"/>
          </a:xfrm>
          <a:prstGeom prst="rect">
            <a:avLst/>
          </a:prstGeom>
        </p:spPr>
      </p:pic>
      <p:sp>
        <p:nvSpPr>
          <p:cNvPr id="9" name="text-272"/>
          <p:cNvSpPr txBox="1"/>
          <p:nvPr/>
        </p:nvSpPr>
        <p:spPr>
          <a:xfrm>
            <a:off x="11887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Secured with prepared statements and session control</a:t>
            </a:r>
            <a:endParaRPr lang="en-US" sz="1600" dirty="0"/>
          </a:p>
        </p:txBody>
      </p:sp>
      <p:sp>
        <p:nvSpPr>
          <p:cNvPr id="10" name="badge-273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-27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2937053"/>
            <a:ext cx="252374" cy="252374"/>
          </a:xfrm>
          <a:prstGeom prst="rect">
            <a:avLst/>
          </a:prstGeom>
        </p:spPr>
      </p:pic>
      <p:sp>
        <p:nvSpPr>
          <p:cNvPr id="12" name="text-275"/>
          <p:cNvSpPr txBox="1"/>
          <p:nvPr/>
        </p:nvSpPr>
        <p:spPr>
          <a:xfrm>
            <a:off x="118872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Instant, printable transcripts for every student</a:t>
            </a:r>
            <a:endParaRPr lang="en-US" sz="1600" dirty="0"/>
          </a:p>
        </p:txBody>
      </p:sp>
      <p:sp>
        <p:nvSpPr>
          <p:cNvPr id="13" name="card-276"/>
          <p:cNvSpPr/>
          <p:nvPr/>
        </p:nvSpPr>
        <p:spPr>
          <a:xfrm>
            <a:off x="5486400" y="1188720"/>
            <a:ext cx="3200400" cy="233172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/>
        </p:spPr>
      </p:sp>
      <p:sp>
        <p:nvSpPr>
          <p:cNvPr id="14" name="text-277"/>
          <p:cNvSpPr txBox="1"/>
          <p:nvPr/>
        </p:nvSpPr>
        <p:spPr>
          <a:xfrm>
            <a:off x="5715000" y="13716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Questions?</a:t>
            </a:r>
            <a:endParaRPr lang="en-US" sz="28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Jatin Lakhani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 No: 240503020028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BCA Sem 5  •  Cyber Security</a:t>
            </a:r>
            <a:endParaRPr lang="en-US" sz="2800" dirty="0"/>
          </a:p>
        </p:txBody>
      </p:sp>
      <p:sp>
        <p:nvSpPr>
          <p:cNvPr id="15" name="github-link"/>
          <p:cNvSpPr txBox="1"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GitHub:  </a:t>
            </a:r>
            <a:pPr algn="ctr" indent="0" marL="0">
              <a:buNone/>
            </a:pPr>
            <a:r>
              <a:rPr lang="en-US" sz="14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github.com/jatinlakhani0596-create/student-result-management-system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MS Vibrant">
  <a:themeElements>
    <a:clrScheme name="SRMS Vibrant">
      <a:dk1>
        <a:srgbClr val="1A1040"/>
      </a:dk1>
      <a:lt1>
        <a:srgbClr val="FFFFFF"/>
      </a:lt1>
      <a:dk2>
        <a:srgbClr val="3B1E8A"/>
      </a:dk2>
      <a:lt2>
        <a:srgbClr val="F3EFFF"/>
      </a:lt2>
      <a:accent1>
        <a:srgbClr val="F25C05"/>
      </a:accent1>
      <a:accent2>
        <a:srgbClr val="7C3AED"/>
      </a:accent2>
      <a:accent3>
        <a:srgbClr val="0891B2"/>
      </a:accent3>
      <a:accent4>
        <a:srgbClr val="DB2777"/>
      </a:accent4>
      <a:accent5>
        <a:srgbClr val="059669"/>
      </a:accent5>
      <a:accent6>
        <a:srgbClr val="FBBF24"/>
      </a:accent6>
      <a:hlink>
        <a:srgbClr val="0891B2"/>
      </a:hlink>
      <a:folHlink>
        <a:srgbClr val="DB2777"/>
      </a:folHlink>
    </a:clrScheme>
    <a:fontScheme name="SRMS Vibra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Result Management System (SRMS)</dc:title>
  <dc:subject>PptxGenJS Presentation</dc:subject>
  <dc:creator>Jatin Lakhani</dc:creator>
  <cp:lastModifiedBy>Jatin Lakhani</cp:lastModifiedBy>
  <cp:revision>1</cp:revision>
  <dcterms:created xsi:type="dcterms:W3CDTF">2026-10-08T05:38:36Z</dcterms:created>
  <dcterms:modified xsi:type="dcterms:W3CDTF">2026-10-08T05:38:36Z</dcterms:modified>
</cp:coreProperties>
</file>